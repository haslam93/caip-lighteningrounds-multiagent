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858000" y="914400"/>
            <a:ext cx="3200400" cy="3200400"/>
          </a:xfrm>
          <a:prstGeom prst="rect">
            <a:avLst/>
          </a:prstGeom>
          <a:solidFill>
            <a:srgbClr val="2D6A8F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7498080" y="1371600"/>
            <a:ext cx="2286000" cy="2286000"/>
          </a:xfrm>
          <a:prstGeom prst="rect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Calculator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Web-Based Arithmetic Application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3200400" cy="0"/>
          </a:xfrm>
          <a:prstGeom prst="line">
            <a:avLst/>
          </a:prstGeom>
          <a:noFill/>
          <a:ln w="3175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832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Express.js  |  RESTful API  |  State Machine UI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Architecture  |  Full Test Coverage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Node.js Calculator is a web-based application providing basic arithmetic operations through a clean, browser-based interface. It follows a client-server architecture where the client manages user input via a state machine, and the server performs calculations through a RESTful API.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703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3172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rgbClr val="00B4D8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441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Arithmetic Operations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Addition, subtraction,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multiplication, and division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2331720"/>
            <a:ext cx="3703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233172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9160" y="2560320"/>
            <a:ext cx="640080" cy="640080"/>
          </a:xfrm>
          <a:prstGeom prst="ellipse">
            <a:avLst/>
          </a:prstGeom>
          <a:solidFill>
            <a:srgbClr val="00B4D8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0" y="2441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Web UI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calculator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with keyboard support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11880"/>
            <a:ext cx="3703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61188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840480"/>
            <a:ext cx="640080" cy="640080"/>
          </a:xfrm>
          <a:prstGeom prst="ellipse">
            <a:avLst/>
          </a:prstGeom>
          <a:solidFill>
            <a:srgbClr val="00B4D8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3721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RESTful API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API endpoint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operations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3611880"/>
            <a:ext cx="3703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61188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Shape 24"/>
          <p:cNvSpPr/>
          <p:nvPr/>
        </p:nvSpPr>
        <p:spPr>
          <a:xfrm>
            <a:off x="4709160" y="3840480"/>
            <a:ext cx="640080" cy="640080"/>
          </a:xfrm>
          <a:prstGeom prst="ellipse">
            <a:avLst/>
          </a:prstGeom>
          <a:solidFill>
            <a:srgbClr val="00B4D8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3721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Validation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validation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operands &amp;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&amp; TESTING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7490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19072"/>
            <a:ext cx="1005840" cy="384048"/>
          </a:xfrm>
          <a:prstGeom prst="rect">
            <a:avLst/>
          </a:prstGeom>
          <a:solidFill>
            <a:srgbClr val="2D6A8F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1907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2024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37490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587752"/>
            <a:ext cx="1005840" cy="384048"/>
          </a:xfrm>
          <a:prstGeom prst="rect">
            <a:avLst/>
          </a:prstGeom>
          <a:solidFill>
            <a:srgbClr val="2D6A8F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877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024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2807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^4.16.4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37490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456432"/>
            <a:ext cx="1005840" cy="384048"/>
          </a:xfrm>
          <a:prstGeom prst="rect">
            <a:avLst/>
          </a:prstGeom>
          <a:solidFill>
            <a:srgbClr val="2D6A8F">
              <a:alpha val="9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564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Server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Nodemon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20240" y="3675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^2.0.20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37490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325112"/>
            <a:ext cx="1005840" cy="384048"/>
          </a:xfrm>
          <a:prstGeom prst="rect">
            <a:avLst/>
          </a:prstGeom>
          <a:solidFill>
            <a:srgbClr val="2D6A8F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251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4251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Gulp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920240" y="4544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^4.0.0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554480"/>
            <a:ext cx="37490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1719072"/>
            <a:ext cx="1005840" cy="384048"/>
          </a:xfrm>
          <a:prstGeom prst="rect">
            <a:avLst/>
          </a:prstGeom>
          <a:solidFill>
            <a:srgbClr val="2D6A8F">
              <a:alpha val="9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171907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504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Mocha + Chai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35040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^5.2.0 / ^4.2.0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423160"/>
            <a:ext cx="37490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2587752"/>
            <a:ext cx="1005840" cy="384048"/>
          </a:xfrm>
          <a:prstGeom prst="rect">
            <a:avLst/>
          </a:prstGeom>
          <a:solidFill>
            <a:srgbClr val="2D6A8F">
              <a:alpha val="9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25877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Testing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Supertest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35040" y="2807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^3.4.2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291840"/>
            <a:ext cx="37490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92040" y="3456432"/>
            <a:ext cx="1005840" cy="384048"/>
          </a:xfrm>
          <a:prstGeom prst="rect">
            <a:avLst/>
          </a:prstGeom>
          <a:solidFill>
            <a:srgbClr val="2D6A8F">
              <a:alpha val="9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4564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3504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NYC (Istanbul)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035040" y="3675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^13.3.0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4160520"/>
            <a:ext cx="37490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92040" y="4325112"/>
            <a:ext cx="1005840" cy="384048"/>
          </a:xfrm>
          <a:prstGeom prst="rect">
            <a:avLst/>
          </a:prstGeom>
          <a:solidFill>
            <a:srgbClr val="2D6A8F">
              <a:alpha val="9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43251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35040" y="4251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ESLint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035040" y="4544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^8.29.0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60320" cy="3383280"/>
          </a:xfrm>
          <a:prstGeom prst="rect">
            <a:avLst/>
          </a:prstGeom>
          <a:solidFill>
            <a:srgbClr val="00B4D8">
              <a:alpha val="8000"/>
            </a:srgbClr>
          </a:solidFill>
          <a:ln w="19050">
            <a:solidFill>
              <a:srgbClr val="00B4D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96596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0391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313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UI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8163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client.js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0906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352044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593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default.css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8679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0" y="2834640"/>
            <a:ext cx="73152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2240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GET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D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/arithmetic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749040" y="1325880"/>
            <a:ext cx="4937760" cy="3383280"/>
          </a:xfrm>
          <a:prstGeom prst="rect">
            <a:avLst/>
          </a:prstGeom>
          <a:solidFill>
            <a:srgbClr val="2D6A8F">
              <a:alpha val="8000"/>
            </a:srgbClr>
          </a:solidFill>
          <a:ln w="19050">
            <a:solidFill>
              <a:srgbClr val="2D6A8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74904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D6A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LAYER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9040" y="162763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69080" y="1965960"/>
            <a:ext cx="20116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069080" y="2011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69080" y="23042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69080" y="2834640"/>
            <a:ext cx="20116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06908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 Middleware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965960"/>
            <a:ext cx="2011680" cy="2468880"/>
          </a:xfrm>
          <a:prstGeom prst="rect">
            <a:avLst/>
          </a:prstGeom>
          <a:solidFill>
            <a:srgbClr val="0F1B2D">
              <a:alpha val="6000"/>
            </a:srgbClr>
          </a:solidFill>
          <a:ln w="12700">
            <a:solidFill>
              <a:srgbClr val="0F1B2D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40080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LAYER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83680" y="2377440"/>
            <a:ext cx="1645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routes.js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26791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Definitions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83680" y="3200400"/>
            <a:ext cx="1645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controller.js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3502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80760" y="2286000"/>
            <a:ext cx="32004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74920" y="2606040"/>
            <a:ext cx="0" cy="22860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06640" y="2971800"/>
            <a:ext cx="0" cy="22860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0" y="3977640"/>
            <a:ext cx="1645920" cy="320040"/>
          </a:xfrm>
          <a:prstGeom prst="rect">
            <a:avLst/>
          </a:prstGeom>
          <a:solidFill>
            <a:srgbClr val="00E5A0">
              <a:alpha val="3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result: number 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914400" cy="347472"/>
          </a:xfrm>
          <a:prstGeom prst="rect">
            <a:avLst/>
          </a:prstGeom>
          <a:solidFill>
            <a:srgbClr val="00E5A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234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/arithmetic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PARAMETERS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4389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6A8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add, subtract, multiply, divide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operand1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</a:rPr>
                        <a:t>number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6A8F"/>
                          </a:solidFill>
                        </a:rPr>
                        <a:t>Any valid number (decimals, scientific)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operand2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</a:rPr>
                        <a:t>number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6A8F"/>
                          </a:solidFill>
                        </a:rPr>
                        <a:t>Any valid number (decimals, scientific)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RESPONSE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3840480"/>
            <a:ext cx="36576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931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200 OK</a:t>
            </a:r>
            <a:endParaRPr lang="en-US" sz="9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"result": 8 }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C81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RESPONSE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46320" y="3840480"/>
            <a:ext cx="36576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0" y="3931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8181"/>
                </a:solidFill>
              </a:rPr>
              <a:t>400 Bad Request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"error": "Invalid operation" }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State Machine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calculator UI uses a finite state machine to manage input flow and transitions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371600" cy="822960"/>
          </a:xfrm>
          <a:prstGeom prst="ellipse">
            <a:avLst/>
          </a:prstGeom>
          <a:solidFill>
            <a:srgbClr val="2D6A8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38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1828800"/>
            <a:ext cx="1371600" cy="82296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938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OPERAND1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1920" y="1828800"/>
            <a:ext cx="1371600" cy="822960"/>
          </a:xfrm>
          <a:prstGeom prst="ellipse">
            <a:avLst/>
          </a:prstGeom>
          <a:solidFill>
            <a:srgbClr val="00E5A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0" y="1938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0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1828800"/>
            <a:ext cx="1371600" cy="82296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0" y="1938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OPERAND2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06640" y="1828800"/>
            <a:ext cx="1371600" cy="822960"/>
          </a:xfrm>
          <a:prstGeom prst="ellipse">
            <a:avLst/>
          </a:prstGeom>
          <a:solidFill>
            <a:srgbClr val="2D6A8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1938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06640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0" y="2240280"/>
            <a:ext cx="365760" cy="0"/>
          </a:xfrm>
          <a:prstGeom prst="line">
            <a:avLst/>
          </a:prstGeom>
          <a:noFill/>
          <a:ln w="25400">
            <a:solidFill>
              <a:srgbClr val="2D37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2240280"/>
            <a:ext cx="365760" cy="0"/>
          </a:xfrm>
          <a:prstGeom prst="line">
            <a:avLst/>
          </a:prstGeom>
          <a:noFill/>
          <a:ln w="25400">
            <a:solidFill>
              <a:srgbClr val="2D37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2240280"/>
            <a:ext cx="365760" cy="0"/>
          </a:xfrm>
          <a:prstGeom prst="line">
            <a:avLst/>
          </a:prstGeom>
          <a:noFill/>
          <a:ln w="25400">
            <a:solidFill>
              <a:srgbClr val="2D37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2240280"/>
            <a:ext cx="365760" cy="0"/>
          </a:xfrm>
          <a:prstGeom prst="line">
            <a:avLst/>
          </a:prstGeom>
          <a:noFill/>
          <a:ln w="25400">
            <a:solidFill>
              <a:srgbClr val="2D37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1-9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9184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+,-,*,/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29000"/>
          <a:ext cx="7863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Initial state, display shows 0, waiting for first input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operand1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User is entering the first operand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operator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Operator selected, waiting for second operand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operand2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User is entering the second operand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complete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18096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Calculation complete, result displayed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of a calculation: 5 + 3 =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88720" cy="365760"/>
          </a:xfrm>
          <a:prstGeom prst="rect">
            <a:avLst/>
          </a:prstGeom>
          <a:solidFill>
            <a:srgbClr val="2D6A8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3000" y="1965960"/>
            <a:ext cx="0" cy="2852928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03120" y="1600200"/>
            <a:ext cx="1188720" cy="365760"/>
          </a:xfrm>
          <a:prstGeom prst="rect">
            <a:avLst/>
          </a:prstGeom>
          <a:solidFill>
            <a:srgbClr val="2D6A8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Calculator UI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1965960"/>
            <a:ext cx="0" cy="2852928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7600" y="1600200"/>
            <a:ext cx="1188720" cy="365760"/>
          </a:xfrm>
          <a:prstGeom prst="rect">
            <a:avLst/>
          </a:prstGeom>
          <a:solidFill>
            <a:srgbClr val="2D6A8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client.js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1965960"/>
            <a:ext cx="0" cy="2852928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212080" y="1600200"/>
            <a:ext cx="1188720" cy="365760"/>
          </a:xfrm>
          <a:prstGeom prst="rect">
            <a:avLst/>
          </a:prstGeom>
          <a:solidFill>
            <a:srgbClr val="2D6A8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1965960"/>
            <a:ext cx="0" cy="2852928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00800" y="1600200"/>
            <a:ext cx="1188720" cy="365760"/>
          </a:xfrm>
          <a:prstGeom prst="rect">
            <a:avLst/>
          </a:prstGeom>
          <a:solidFill>
            <a:srgbClr val="2D6A8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routes.js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5160" y="1965960"/>
            <a:ext cx="0" cy="2852928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72400" y="1600200"/>
            <a:ext cx="1188720" cy="365760"/>
          </a:xfrm>
          <a:prstGeom prst="rect">
            <a:avLst/>
          </a:prstGeom>
          <a:solidFill>
            <a:srgbClr val="2D6A8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controller.js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366760" y="1965960"/>
            <a:ext cx="0" cy="2852928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143000" y="2194560"/>
            <a:ext cx="1554480" cy="0"/>
          </a:xfrm>
          <a:prstGeom prst="line">
            <a:avLst/>
          </a:prstGeom>
          <a:noFill/>
          <a:ln w="19050">
            <a:solidFill>
              <a:srgbClr val="2D6A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98448" y="2011680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'5'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697480" y="2468880"/>
            <a:ext cx="1554480" cy="0"/>
          </a:xfrm>
          <a:prstGeom prst="line">
            <a:avLst/>
          </a:prstGeom>
          <a:noFill/>
          <a:ln w="19050">
            <a:solidFill>
              <a:srgbClr val="2D6A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2928" y="2286000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numberPressed('5')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143000" y="2743200"/>
            <a:ext cx="1554480" cy="0"/>
          </a:xfrm>
          <a:prstGeom prst="line">
            <a:avLst/>
          </a:prstGeom>
          <a:noFill/>
          <a:ln w="19050">
            <a:solidFill>
              <a:srgbClr val="2D6A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98448" y="2560320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'+'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697480" y="3017520"/>
            <a:ext cx="1554480" cy="0"/>
          </a:xfrm>
          <a:prstGeom prst="line">
            <a:avLst/>
          </a:prstGeom>
          <a:noFill/>
          <a:ln w="19050">
            <a:solidFill>
              <a:srgbClr val="2D6A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52928" y="2834640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operationPressed('+')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143000" y="3291840"/>
            <a:ext cx="1554480" cy="0"/>
          </a:xfrm>
          <a:prstGeom prst="line">
            <a:avLst/>
          </a:prstGeom>
          <a:noFill/>
          <a:ln w="19050">
            <a:solidFill>
              <a:srgbClr val="2D6A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98448" y="3108960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'='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251960" y="3566160"/>
            <a:ext cx="1554480" cy="0"/>
          </a:xfrm>
          <a:prstGeom prst="line">
            <a:avLst/>
          </a:prstGeom>
          <a:noFill/>
          <a:ln w="19050">
            <a:solidFill>
              <a:srgbClr val="2D6A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7408" y="3383280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/arithmetic?...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806440" y="3794760"/>
            <a:ext cx="1188720" cy="0"/>
          </a:xfrm>
          <a:prstGeom prst="line">
            <a:avLst/>
          </a:prstGeom>
          <a:noFill/>
          <a:ln w="19050">
            <a:solidFill>
              <a:srgbClr val="2D6A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5312" y="3611880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route()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995160" y="4023360"/>
            <a:ext cx="1371600" cy="0"/>
          </a:xfrm>
          <a:prstGeom prst="line">
            <a:avLst/>
          </a:prstGeom>
          <a:noFill/>
          <a:ln w="19050">
            <a:solidFill>
              <a:srgbClr val="2D6A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38404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251960" y="4297680"/>
            <a:ext cx="4114800" cy="0"/>
          </a:xfrm>
          <a:prstGeom prst="line">
            <a:avLst/>
          </a:prstGeom>
          <a:noFill/>
          <a:ln w="19050">
            <a:solidFill>
              <a:srgbClr val="00E5A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663440" y="411480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result: 8 }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Quality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FRAMEWORK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8404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54864" cy="5303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Mocha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 with BDD-style describe/it blocks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38404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240280"/>
            <a:ext cx="54864" cy="5303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286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51460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library with expect/should syntax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38404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880360"/>
            <a:ext cx="54864" cy="5303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926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Supertest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1546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endpoint testing via request simulation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38404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520440"/>
            <a:ext cx="54864" cy="5303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NYC (Istanbul)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79476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 with Cobertura &amp; HTML reports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COVERAGE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600200"/>
            <a:ext cx="3657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83480" y="1709928"/>
            <a:ext cx="777240" cy="310896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7099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97880" y="1645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97880" y="187452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Missing/invalid operations &amp; operands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2240280"/>
            <a:ext cx="3657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83480" y="2350008"/>
            <a:ext cx="777240" cy="310896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35000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97880" y="2286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97880" y="251460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Integers, negatives, floats, scientific notation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2880360"/>
            <a:ext cx="3657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83480" y="2990088"/>
            <a:ext cx="777240" cy="310896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299008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97880" y="2926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Multiplication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97880" y="31546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Positive, negative, float multiplication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3520440"/>
            <a:ext cx="3657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83480" y="3630168"/>
            <a:ext cx="777240" cy="310896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40" name="Text 38"/>
          <p:cNvSpPr/>
          <p:nvPr/>
        </p:nvSpPr>
        <p:spPr>
          <a:xfrm>
            <a:off x="4983480" y="363016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897880" y="3566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897880" y="379476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and edge case division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42976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Runs Mocha + NYC coverage + generates HTML &amp; Cobertura reports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Structure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35661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copilot-node-calculator/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server.js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package.json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gulpfile.js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documentation.md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api/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controller.js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routes.js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public/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index.html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client.js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default.css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test/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arithmetic.test.js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helpers.js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600200"/>
            <a:ext cx="3840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600200"/>
            <a:ext cx="54864" cy="566928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645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1856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 entry point, serves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 and mounts API routes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2258568"/>
            <a:ext cx="3840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258568"/>
            <a:ext cx="54864" cy="566928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3042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api/controller.js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calculation logic 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916936"/>
            <a:ext cx="3840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916936"/>
            <a:ext cx="54864" cy="566928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9626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api/routes.js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172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/arithmetic endpoint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3575304"/>
            <a:ext cx="3840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575304"/>
            <a:ext cx="54864" cy="566928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36210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public/client.js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3831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state machine 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communication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4233672"/>
            <a:ext cx="3840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4233672"/>
            <a:ext cx="54864" cy="566928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42793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public/index.html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4489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user interface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button grid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 &amp; Install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80160" y="1627632"/>
            <a:ext cx="722376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62763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&lt;repo-url&gt;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node-calculator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Development Server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80160" y="2542032"/>
            <a:ext cx="722376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54203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Starts Nodemon on port 3000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Tests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80160" y="3456432"/>
            <a:ext cx="722376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345643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Mocha + NYC coverage reports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Lint Code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80160" y="4370832"/>
            <a:ext cx="722376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437083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lint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ESLint check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572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Set PORT to customize server port (default: 3000)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457200" y="2286000"/>
            <a:ext cx="2743200" cy="2743200"/>
          </a:xfrm>
          <a:prstGeom prst="rect">
            <a:avLst/>
          </a:prstGeom>
          <a:solidFill>
            <a:srgbClr val="2D6A8F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7315200" y="731520"/>
            <a:ext cx="2286000" cy="2286000"/>
          </a:xfrm>
          <a:prstGeom prst="rect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2560320"/>
            <a:ext cx="2743200" cy="0"/>
          </a:xfrm>
          <a:prstGeom prst="line">
            <a:avLst/>
          </a:prstGeom>
          <a:noFill/>
          <a:ln w="3175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Calculator Application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 |  RESTful API  |  State Machine  |  Full Test Suite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 Calculator Application</dc:title>
  <dc:subject>PptxGenJS Presentation</dc:subject>
  <dc:creator>GitHub Copilot</dc:creator>
  <cp:lastModifiedBy>GitHub Copilot</cp:lastModifiedBy>
  <cp:revision>1</cp:revision>
  <dcterms:created xsi:type="dcterms:W3CDTF">2026-02-06T01:11:50Z</dcterms:created>
  <dcterms:modified xsi:type="dcterms:W3CDTF">2026-02-06T01:11:50Z</dcterms:modified>
</cp:coreProperties>
</file>